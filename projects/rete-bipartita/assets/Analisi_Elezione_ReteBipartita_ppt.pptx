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3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D7EFF-CCFD-43E2-AF97-D5AA6D248ED9}" v="49" dt="2025-04-11T01:22:08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2"/>
    <p:restoredTop sz="94549"/>
  </p:normalViewPr>
  <p:slideViewPr>
    <p:cSldViewPr snapToGrid="0">
      <p:cViewPr varScale="1">
        <p:scale>
          <a:sx n="84" d="100"/>
          <a:sy n="84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8FFD30-F312-4C48-965B-64C3524456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B0B1A0-F96C-4136-8A98-71382D18F76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Pulizia e preparazione del dataset</a:t>
          </a:r>
          <a:endParaRPr lang="en-US"/>
        </a:p>
      </dgm:t>
    </dgm:pt>
    <dgm:pt modelId="{31CB3E9E-5B10-4FD3-8837-579EF41B151C}" type="parTrans" cxnId="{9BF6E82D-DFF0-40DD-B8FD-D93C58EF44AB}">
      <dgm:prSet/>
      <dgm:spPr/>
      <dgm:t>
        <a:bodyPr/>
        <a:lstStyle/>
        <a:p>
          <a:endParaRPr lang="en-US"/>
        </a:p>
      </dgm:t>
    </dgm:pt>
    <dgm:pt modelId="{0EC17834-BE7B-4A34-8589-BD5A26BE1560}" type="sibTrans" cxnId="{9BF6E82D-DFF0-40DD-B8FD-D93C58EF44AB}">
      <dgm:prSet/>
      <dgm:spPr/>
      <dgm:t>
        <a:bodyPr/>
        <a:lstStyle/>
        <a:p>
          <a:endParaRPr lang="en-US"/>
        </a:p>
      </dgm:t>
    </dgm:pt>
    <dgm:pt modelId="{91EF2DDF-9676-48B7-BB29-BFDE5369C50A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Creazione della rete bipartita </a:t>
          </a:r>
          <a:endParaRPr lang="en-US"/>
        </a:p>
      </dgm:t>
    </dgm:pt>
    <dgm:pt modelId="{733E5476-6EEA-4C52-970F-1DE682D83B1E}" type="parTrans" cxnId="{063A4282-87CF-455B-94A8-39D1C3B05AC6}">
      <dgm:prSet/>
      <dgm:spPr/>
      <dgm:t>
        <a:bodyPr/>
        <a:lstStyle/>
        <a:p>
          <a:endParaRPr lang="en-US"/>
        </a:p>
      </dgm:t>
    </dgm:pt>
    <dgm:pt modelId="{6F13BDAE-74F8-4007-BE79-F3A663EF4B5E}" type="sibTrans" cxnId="{063A4282-87CF-455B-94A8-39D1C3B05AC6}">
      <dgm:prSet/>
      <dgm:spPr/>
      <dgm:t>
        <a:bodyPr/>
        <a:lstStyle/>
        <a:p>
          <a:endParaRPr lang="en-US"/>
        </a:p>
      </dgm:t>
    </dgm:pt>
    <dgm:pt modelId="{A120D022-0627-497E-9FA3-7DF50CB0068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Analisi delle co-occorrenze</a:t>
          </a:r>
          <a:endParaRPr lang="en-US"/>
        </a:p>
      </dgm:t>
    </dgm:pt>
    <dgm:pt modelId="{62725100-D730-4748-9474-9352B16AACFF}" type="parTrans" cxnId="{9B8BB7F5-A360-4F2E-8580-B93E361BCAF8}">
      <dgm:prSet/>
      <dgm:spPr/>
      <dgm:t>
        <a:bodyPr/>
        <a:lstStyle/>
        <a:p>
          <a:endParaRPr lang="en-US"/>
        </a:p>
      </dgm:t>
    </dgm:pt>
    <dgm:pt modelId="{AC1E9AD0-B28E-4854-ABDB-3C4E6F356485}" type="sibTrans" cxnId="{9B8BB7F5-A360-4F2E-8580-B93E361BCAF8}">
      <dgm:prSet/>
      <dgm:spPr/>
      <dgm:t>
        <a:bodyPr/>
        <a:lstStyle/>
        <a:p>
          <a:endParaRPr lang="en-US"/>
        </a:p>
      </dgm:t>
    </dgm:pt>
    <dgm:pt modelId="{9D0CC652-2186-474C-8B9B-094A377DF213}" type="pres">
      <dgm:prSet presAssocID="{5B8FFD30-F312-4C48-965B-64C35244562B}" presName="root" presStyleCnt="0">
        <dgm:presLayoutVars>
          <dgm:dir/>
          <dgm:resizeHandles val="exact"/>
        </dgm:presLayoutVars>
      </dgm:prSet>
      <dgm:spPr/>
    </dgm:pt>
    <dgm:pt modelId="{9E6E2C39-3E1D-4DF8-B5FC-1806E8B5C270}" type="pres">
      <dgm:prSet presAssocID="{00B0B1A0-F96C-4136-8A98-71382D18F76D}" presName="compNode" presStyleCnt="0"/>
      <dgm:spPr/>
    </dgm:pt>
    <dgm:pt modelId="{8419CD58-12EC-4FA4-93AA-19D457FCDF65}" type="pres">
      <dgm:prSet presAssocID="{00B0B1A0-F96C-4136-8A98-71382D18F76D}" presName="bgRect" presStyleLbl="bgShp" presStyleIdx="0" presStyleCnt="3"/>
      <dgm:spPr/>
    </dgm:pt>
    <dgm:pt modelId="{EBDE8D3D-3832-438C-A6A4-0883B43CE58B}" type="pres">
      <dgm:prSet presAssocID="{00B0B1A0-F96C-4136-8A98-71382D18F7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AEA62DA5-475C-4DD2-BAC8-6797282B1FD4}" type="pres">
      <dgm:prSet presAssocID="{00B0B1A0-F96C-4136-8A98-71382D18F76D}" presName="spaceRect" presStyleCnt="0"/>
      <dgm:spPr/>
    </dgm:pt>
    <dgm:pt modelId="{2D5E0FF2-6E92-4683-BD2E-EE24FC90F7C3}" type="pres">
      <dgm:prSet presAssocID="{00B0B1A0-F96C-4136-8A98-71382D18F76D}" presName="parTx" presStyleLbl="revTx" presStyleIdx="0" presStyleCnt="3">
        <dgm:presLayoutVars>
          <dgm:chMax val="0"/>
          <dgm:chPref val="0"/>
        </dgm:presLayoutVars>
      </dgm:prSet>
      <dgm:spPr/>
    </dgm:pt>
    <dgm:pt modelId="{0F9B7412-2DBB-4347-A760-DB63352659B4}" type="pres">
      <dgm:prSet presAssocID="{0EC17834-BE7B-4A34-8589-BD5A26BE1560}" presName="sibTrans" presStyleCnt="0"/>
      <dgm:spPr/>
    </dgm:pt>
    <dgm:pt modelId="{D2CDE809-008B-4F8A-B4F0-F41F4F3C0186}" type="pres">
      <dgm:prSet presAssocID="{91EF2DDF-9676-48B7-BB29-BFDE5369C50A}" presName="compNode" presStyleCnt="0"/>
      <dgm:spPr/>
    </dgm:pt>
    <dgm:pt modelId="{7C2CE124-9B5C-4369-86F2-DA84019CF123}" type="pres">
      <dgm:prSet presAssocID="{91EF2DDF-9676-48B7-BB29-BFDE5369C50A}" presName="bgRect" presStyleLbl="bgShp" presStyleIdx="1" presStyleCnt="3"/>
      <dgm:spPr/>
    </dgm:pt>
    <dgm:pt modelId="{0CBE8324-C7BB-462B-96FC-90B7C41D8844}" type="pres">
      <dgm:prSet presAssocID="{91EF2DDF-9676-48B7-BB29-BFDE5369C5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A20F600-7C8B-4E2B-9F79-D395FCA7E5CF}" type="pres">
      <dgm:prSet presAssocID="{91EF2DDF-9676-48B7-BB29-BFDE5369C50A}" presName="spaceRect" presStyleCnt="0"/>
      <dgm:spPr/>
    </dgm:pt>
    <dgm:pt modelId="{AACD7226-C336-4BE2-BDF6-3D6F280E3B91}" type="pres">
      <dgm:prSet presAssocID="{91EF2DDF-9676-48B7-BB29-BFDE5369C50A}" presName="parTx" presStyleLbl="revTx" presStyleIdx="1" presStyleCnt="3">
        <dgm:presLayoutVars>
          <dgm:chMax val="0"/>
          <dgm:chPref val="0"/>
        </dgm:presLayoutVars>
      </dgm:prSet>
      <dgm:spPr/>
    </dgm:pt>
    <dgm:pt modelId="{DC5A3C64-5494-430A-A2C4-F763CBEAB435}" type="pres">
      <dgm:prSet presAssocID="{6F13BDAE-74F8-4007-BE79-F3A663EF4B5E}" presName="sibTrans" presStyleCnt="0"/>
      <dgm:spPr/>
    </dgm:pt>
    <dgm:pt modelId="{E37E19EF-8499-4C86-9E83-DF9246CCEA23}" type="pres">
      <dgm:prSet presAssocID="{A120D022-0627-497E-9FA3-7DF50CB0068B}" presName="compNode" presStyleCnt="0"/>
      <dgm:spPr/>
    </dgm:pt>
    <dgm:pt modelId="{0449CDC9-0329-4D11-8CFC-9A642A35393D}" type="pres">
      <dgm:prSet presAssocID="{A120D022-0627-497E-9FA3-7DF50CB0068B}" presName="bgRect" presStyleLbl="bgShp" presStyleIdx="2" presStyleCnt="3"/>
      <dgm:spPr/>
    </dgm:pt>
    <dgm:pt modelId="{DB54397B-3112-4655-B730-D3467196A6B6}" type="pres">
      <dgm:prSet presAssocID="{A120D022-0627-497E-9FA3-7DF50CB006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4623529-D38E-4471-A70E-FBB18ECAB423}" type="pres">
      <dgm:prSet presAssocID="{A120D022-0627-497E-9FA3-7DF50CB0068B}" presName="spaceRect" presStyleCnt="0"/>
      <dgm:spPr/>
    </dgm:pt>
    <dgm:pt modelId="{BC11888C-3AC7-46C2-805B-23ACA3E41D5A}" type="pres">
      <dgm:prSet presAssocID="{A120D022-0627-497E-9FA3-7DF50CB0068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BF6E82D-DFF0-40DD-B8FD-D93C58EF44AB}" srcId="{5B8FFD30-F312-4C48-965B-64C35244562B}" destId="{00B0B1A0-F96C-4136-8A98-71382D18F76D}" srcOrd="0" destOrd="0" parTransId="{31CB3E9E-5B10-4FD3-8837-579EF41B151C}" sibTransId="{0EC17834-BE7B-4A34-8589-BD5A26BE1560}"/>
    <dgm:cxn modelId="{B862C33B-75DD-40C0-A10F-418751A84C8C}" type="presOf" srcId="{5B8FFD30-F312-4C48-965B-64C35244562B}" destId="{9D0CC652-2186-474C-8B9B-094A377DF213}" srcOrd="0" destOrd="0" presId="urn:microsoft.com/office/officeart/2018/2/layout/IconVerticalSolidList"/>
    <dgm:cxn modelId="{063A4282-87CF-455B-94A8-39D1C3B05AC6}" srcId="{5B8FFD30-F312-4C48-965B-64C35244562B}" destId="{91EF2DDF-9676-48B7-BB29-BFDE5369C50A}" srcOrd="1" destOrd="0" parTransId="{733E5476-6EEA-4C52-970F-1DE682D83B1E}" sibTransId="{6F13BDAE-74F8-4007-BE79-F3A663EF4B5E}"/>
    <dgm:cxn modelId="{41031DD7-6279-4266-A6B4-DB3937845C31}" type="presOf" srcId="{A120D022-0627-497E-9FA3-7DF50CB0068B}" destId="{BC11888C-3AC7-46C2-805B-23ACA3E41D5A}" srcOrd="0" destOrd="0" presId="urn:microsoft.com/office/officeart/2018/2/layout/IconVerticalSolidList"/>
    <dgm:cxn modelId="{624BD0DE-8B3B-48AB-9113-33F7AA88709D}" type="presOf" srcId="{00B0B1A0-F96C-4136-8A98-71382D18F76D}" destId="{2D5E0FF2-6E92-4683-BD2E-EE24FC90F7C3}" srcOrd="0" destOrd="0" presId="urn:microsoft.com/office/officeart/2018/2/layout/IconVerticalSolidList"/>
    <dgm:cxn modelId="{9B8BB7F5-A360-4F2E-8580-B93E361BCAF8}" srcId="{5B8FFD30-F312-4C48-965B-64C35244562B}" destId="{A120D022-0627-497E-9FA3-7DF50CB0068B}" srcOrd="2" destOrd="0" parTransId="{62725100-D730-4748-9474-9352B16AACFF}" sibTransId="{AC1E9AD0-B28E-4854-ABDB-3C4E6F356485}"/>
    <dgm:cxn modelId="{715BBFF7-B7D7-4F66-9A82-A34F4C004366}" type="presOf" srcId="{91EF2DDF-9676-48B7-BB29-BFDE5369C50A}" destId="{AACD7226-C336-4BE2-BDF6-3D6F280E3B91}" srcOrd="0" destOrd="0" presId="urn:microsoft.com/office/officeart/2018/2/layout/IconVerticalSolidList"/>
    <dgm:cxn modelId="{4E92AFE1-E13B-40CC-A862-9F70ED165792}" type="presParOf" srcId="{9D0CC652-2186-474C-8B9B-094A377DF213}" destId="{9E6E2C39-3E1D-4DF8-B5FC-1806E8B5C270}" srcOrd="0" destOrd="0" presId="urn:microsoft.com/office/officeart/2018/2/layout/IconVerticalSolidList"/>
    <dgm:cxn modelId="{A5B2174B-421A-49A6-A6D7-70BF7DC451F2}" type="presParOf" srcId="{9E6E2C39-3E1D-4DF8-B5FC-1806E8B5C270}" destId="{8419CD58-12EC-4FA4-93AA-19D457FCDF65}" srcOrd="0" destOrd="0" presId="urn:microsoft.com/office/officeart/2018/2/layout/IconVerticalSolidList"/>
    <dgm:cxn modelId="{715C8F04-FE8A-46BF-921A-E6F9AD2ED1D5}" type="presParOf" srcId="{9E6E2C39-3E1D-4DF8-B5FC-1806E8B5C270}" destId="{EBDE8D3D-3832-438C-A6A4-0883B43CE58B}" srcOrd="1" destOrd="0" presId="urn:microsoft.com/office/officeart/2018/2/layout/IconVerticalSolidList"/>
    <dgm:cxn modelId="{F75E5D70-57C8-4CA7-890B-962A5F7FF931}" type="presParOf" srcId="{9E6E2C39-3E1D-4DF8-B5FC-1806E8B5C270}" destId="{AEA62DA5-475C-4DD2-BAC8-6797282B1FD4}" srcOrd="2" destOrd="0" presId="urn:microsoft.com/office/officeart/2018/2/layout/IconVerticalSolidList"/>
    <dgm:cxn modelId="{E6CA7464-B159-4F71-ABFB-07903AFFF0FB}" type="presParOf" srcId="{9E6E2C39-3E1D-4DF8-B5FC-1806E8B5C270}" destId="{2D5E0FF2-6E92-4683-BD2E-EE24FC90F7C3}" srcOrd="3" destOrd="0" presId="urn:microsoft.com/office/officeart/2018/2/layout/IconVerticalSolidList"/>
    <dgm:cxn modelId="{C9C5C953-51DD-40E1-924C-451A294256EB}" type="presParOf" srcId="{9D0CC652-2186-474C-8B9B-094A377DF213}" destId="{0F9B7412-2DBB-4347-A760-DB63352659B4}" srcOrd="1" destOrd="0" presId="urn:microsoft.com/office/officeart/2018/2/layout/IconVerticalSolidList"/>
    <dgm:cxn modelId="{ABE312B1-2A9B-440B-B019-C987D6F67C89}" type="presParOf" srcId="{9D0CC652-2186-474C-8B9B-094A377DF213}" destId="{D2CDE809-008B-4F8A-B4F0-F41F4F3C0186}" srcOrd="2" destOrd="0" presId="urn:microsoft.com/office/officeart/2018/2/layout/IconVerticalSolidList"/>
    <dgm:cxn modelId="{F804EA40-8B71-493B-AA24-362E77386E4E}" type="presParOf" srcId="{D2CDE809-008B-4F8A-B4F0-F41F4F3C0186}" destId="{7C2CE124-9B5C-4369-86F2-DA84019CF123}" srcOrd="0" destOrd="0" presId="urn:microsoft.com/office/officeart/2018/2/layout/IconVerticalSolidList"/>
    <dgm:cxn modelId="{A2CD7012-8345-4F52-A151-9C5D839D3E99}" type="presParOf" srcId="{D2CDE809-008B-4F8A-B4F0-F41F4F3C0186}" destId="{0CBE8324-C7BB-462B-96FC-90B7C41D8844}" srcOrd="1" destOrd="0" presId="urn:microsoft.com/office/officeart/2018/2/layout/IconVerticalSolidList"/>
    <dgm:cxn modelId="{E891D9F1-01EC-4012-B216-B23D94EA15DD}" type="presParOf" srcId="{D2CDE809-008B-4F8A-B4F0-F41F4F3C0186}" destId="{DA20F600-7C8B-4E2B-9F79-D395FCA7E5CF}" srcOrd="2" destOrd="0" presId="urn:microsoft.com/office/officeart/2018/2/layout/IconVerticalSolidList"/>
    <dgm:cxn modelId="{AE062FD5-D512-42FB-B0C0-4A7C52CC96B6}" type="presParOf" srcId="{D2CDE809-008B-4F8A-B4F0-F41F4F3C0186}" destId="{AACD7226-C336-4BE2-BDF6-3D6F280E3B91}" srcOrd="3" destOrd="0" presId="urn:microsoft.com/office/officeart/2018/2/layout/IconVerticalSolidList"/>
    <dgm:cxn modelId="{40749561-7168-4C78-B151-64ED994F8EBE}" type="presParOf" srcId="{9D0CC652-2186-474C-8B9B-094A377DF213}" destId="{DC5A3C64-5494-430A-A2C4-F763CBEAB435}" srcOrd="3" destOrd="0" presId="urn:microsoft.com/office/officeart/2018/2/layout/IconVerticalSolidList"/>
    <dgm:cxn modelId="{4A0C8064-0C13-492B-B9BB-66CEB3BDDD38}" type="presParOf" srcId="{9D0CC652-2186-474C-8B9B-094A377DF213}" destId="{E37E19EF-8499-4C86-9E83-DF9246CCEA23}" srcOrd="4" destOrd="0" presId="urn:microsoft.com/office/officeart/2018/2/layout/IconVerticalSolidList"/>
    <dgm:cxn modelId="{7EF096E9-5131-45E7-9E7C-CE2EE0CB5BD7}" type="presParOf" srcId="{E37E19EF-8499-4C86-9E83-DF9246CCEA23}" destId="{0449CDC9-0329-4D11-8CFC-9A642A35393D}" srcOrd="0" destOrd="0" presId="urn:microsoft.com/office/officeart/2018/2/layout/IconVerticalSolidList"/>
    <dgm:cxn modelId="{9674870A-E716-49C2-A875-D7BBAEF14763}" type="presParOf" srcId="{E37E19EF-8499-4C86-9E83-DF9246CCEA23}" destId="{DB54397B-3112-4655-B730-D3467196A6B6}" srcOrd="1" destOrd="0" presId="urn:microsoft.com/office/officeart/2018/2/layout/IconVerticalSolidList"/>
    <dgm:cxn modelId="{C10BAEDA-D900-498B-A680-D4680CD83EC8}" type="presParOf" srcId="{E37E19EF-8499-4C86-9E83-DF9246CCEA23}" destId="{F4623529-D38E-4471-A70E-FBB18ECAB423}" srcOrd="2" destOrd="0" presId="urn:microsoft.com/office/officeart/2018/2/layout/IconVerticalSolidList"/>
    <dgm:cxn modelId="{DFBB5C01-54A2-4990-9885-D71F4FA65075}" type="presParOf" srcId="{E37E19EF-8499-4C86-9E83-DF9246CCEA23}" destId="{BC11888C-3AC7-46C2-805B-23ACA3E41D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8ECDC6-3997-4C92-BC5D-755F01988D8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693911-1404-4C0C-B083-EC14F6F01A17}">
      <dgm:prSet/>
      <dgm:spPr/>
      <dgm:t>
        <a:bodyPr/>
        <a:lstStyle/>
        <a:p>
          <a:r>
            <a:rPr lang="it-IT"/>
            <a:t>Correzione di Bonferroni</a:t>
          </a:r>
          <a:endParaRPr lang="en-US"/>
        </a:p>
      </dgm:t>
    </dgm:pt>
    <dgm:pt modelId="{5112EDB2-7889-4873-8D44-82575F74D965}" type="parTrans" cxnId="{9E29FE82-7295-4194-80EB-6F25BC74A180}">
      <dgm:prSet/>
      <dgm:spPr/>
      <dgm:t>
        <a:bodyPr/>
        <a:lstStyle/>
        <a:p>
          <a:endParaRPr lang="en-US"/>
        </a:p>
      </dgm:t>
    </dgm:pt>
    <dgm:pt modelId="{4BD70837-02DC-443E-B293-EB6C4CB57421}" type="sibTrans" cxnId="{9E29FE82-7295-4194-80EB-6F25BC74A180}">
      <dgm:prSet/>
      <dgm:spPr/>
      <dgm:t>
        <a:bodyPr/>
        <a:lstStyle/>
        <a:p>
          <a:endParaRPr lang="en-US"/>
        </a:p>
      </dgm:t>
    </dgm:pt>
    <dgm:pt modelId="{0150717A-EDE4-4A73-873A-952A186DC3EF}">
      <dgm:prSet/>
      <dgm:spPr/>
      <dgm:t>
        <a:bodyPr/>
        <a:lstStyle/>
        <a:p>
          <a:r>
            <a:rPr lang="it-IT"/>
            <a:t>False Discovery Rate</a:t>
          </a:r>
          <a:endParaRPr lang="en-US"/>
        </a:p>
      </dgm:t>
    </dgm:pt>
    <dgm:pt modelId="{CFF7C031-749D-4EED-B318-6280E34AA236}" type="parTrans" cxnId="{7E14677B-F8E8-4724-8D6B-3AADB9290991}">
      <dgm:prSet/>
      <dgm:spPr/>
      <dgm:t>
        <a:bodyPr/>
        <a:lstStyle/>
        <a:p>
          <a:endParaRPr lang="en-US"/>
        </a:p>
      </dgm:t>
    </dgm:pt>
    <dgm:pt modelId="{26B2FFD8-69C3-45D5-A465-8FD080F17E2F}" type="sibTrans" cxnId="{7E14677B-F8E8-4724-8D6B-3AADB9290991}">
      <dgm:prSet/>
      <dgm:spPr/>
      <dgm:t>
        <a:bodyPr/>
        <a:lstStyle/>
        <a:p>
          <a:endParaRPr lang="en-US"/>
        </a:p>
      </dgm:t>
    </dgm:pt>
    <dgm:pt modelId="{D6964695-67FE-4473-8F86-728AEAEE7B0B}" type="pres">
      <dgm:prSet presAssocID="{EB8ECDC6-3997-4C92-BC5D-755F01988D80}" presName="outerComposite" presStyleCnt="0">
        <dgm:presLayoutVars>
          <dgm:chMax val="5"/>
          <dgm:dir/>
          <dgm:resizeHandles val="exact"/>
        </dgm:presLayoutVars>
      </dgm:prSet>
      <dgm:spPr/>
    </dgm:pt>
    <dgm:pt modelId="{02368F8A-4DB5-4F93-9F82-26499D29C20F}" type="pres">
      <dgm:prSet presAssocID="{EB8ECDC6-3997-4C92-BC5D-755F01988D80}" presName="dummyMaxCanvas" presStyleCnt="0">
        <dgm:presLayoutVars/>
      </dgm:prSet>
      <dgm:spPr/>
    </dgm:pt>
    <dgm:pt modelId="{D85DDE89-0F99-4B5D-9578-A61642AA33A8}" type="pres">
      <dgm:prSet presAssocID="{EB8ECDC6-3997-4C92-BC5D-755F01988D80}" presName="TwoNodes_1" presStyleLbl="node1" presStyleIdx="0" presStyleCnt="2">
        <dgm:presLayoutVars>
          <dgm:bulletEnabled val="1"/>
        </dgm:presLayoutVars>
      </dgm:prSet>
      <dgm:spPr/>
    </dgm:pt>
    <dgm:pt modelId="{AAA05C1D-CA64-49BD-8006-F4A67BB09967}" type="pres">
      <dgm:prSet presAssocID="{EB8ECDC6-3997-4C92-BC5D-755F01988D80}" presName="TwoNodes_2" presStyleLbl="node1" presStyleIdx="1" presStyleCnt="2">
        <dgm:presLayoutVars>
          <dgm:bulletEnabled val="1"/>
        </dgm:presLayoutVars>
      </dgm:prSet>
      <dgm:spPr/>
    </dgm:pt>
    <dgm:pt modelId="{E13DC364-764F-4CF4-8234-E7B54CE92A1A}" type="pres">
      <dgm:prSet presAssocID="{EB8ECDC6-3997-4C92-BC5D-755F01988D80}" presName="TwoConn_1-2" presStyleLbl="fgAccFollowNode1" presStyleIdx="0" presStyleCnt="1">
        <dgm:presLayoutVars>
          <dgm:bulletEnabled val="1"/>
        </dgm:presLayoutVars>
      </dgm:prSet>
      <dgm:spPr/>
    </dgm:pt>
    <dgm:pt modelId="{5996F717-DFBF-458D-8F30-034AFA766C01}" type="pres">
      <dgm:prSet presAssocID="{EB8ECDC6-3997-4C92-BC5D-755F01988D80}" presName="TwoNodes_1_text" presStyleLbl="node1" presStyleIdx="1" presStyleCnt="2">
        <dgm:presLayoutVars>
          <dgm:bulletEnabled val="1"/>
        </dgm:presLayoutVars>
      </dgm:prSet>
      <dgm:spPr/>
    </dgm:pt>
    <dgm:pt modelId="{F1261411-5C82-4D43-BE24-22F867D28299}" type="pres">
      <dgm:prSet presAssocID="{EB8ECDC6-3997-4C92-BC5D-755F01988D80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2F0A8D20-E9B8-4241-A3E2-73388059D4FA}" type="presOf" srcId="{4BD70837-02DC-443E-B293-EB6C4CB57421}" destId="{E13DC364-764F-4CF4-8234-E7B54CE92A1A}" srcOrd="0" destOrd="0" presId="urn:microsoft.com/office/officeart/2005/8/layout/vProcess5"/>
    <dgm:cxn modelId="{471B5535-BD9E-4C98-80AA-8296F039427F}" type="presOf" srcId="{D4693911-1404-4C0C-B083-EC14F6F01A17}" destId="{D85DDE89-0F99-4B5D-9578-A61642AA33A8}" srcOrd="0" destOrd="0" presId="urn:microsoft.com/office/officeart/2005/8/layout/vProcess5"/>
    <dgm:cxn modelId="{9384904E-6D91-4A82-9B17-1E3231D35333}" type="presOf" srcId="{EB8ECDC6-3997-4C92-BC5D-755F01988D80}" destId="{D6964695-67FE-4473-8F86-728AEAEE7B0B}" srcOrd="0" destOrd="0" presId="urn:microsoft.com/office/officeart/2005/8/layout/vProcess5"/>
    <dgm:cxn modelId="{0BFBDE4F-7590-40A3-8A91-D99192B026BF}" type="presOf" srcId="{0150717A-EDE4-4A73-873A-952A186DC3EF}" destId="{AAA05C1D-CA64-49BD-8006-F4A67BB09967}" srcOrd="0" destOrd="0" presId="urn:microsoft.com/office/officeart/2005/8/layout/vProcess5"/>
    <dgm:cxn modelId="{B9DE7576-BE65-4CFD-B3D0-F12ED561DAFD}" type="presOf" srcId="{D4693911-1404-4C0C-B083-EC14F6F01A17}" destId="{5996F717-DFBF-458D-8F30-034AFA766C01}" srcOrd="1" destOrd="0" presId="urn:microsoft.com/office/officeart/2005/8/layout/vProcess5"/>
    <dgm:cxn modelId="{7E14677B-F8E8-4724-8D6B-3AADB9290991}" srcId="{EB8ECDC6-3997-4C92-BC5D-755F01988D80}" destId="{0150717A-EDE4-4A73-873A-952A186DC3EF}" srcOrd="1" destOrd="0" parTransId="{CFF7C031-749D-4EED-B318-6280E34AA236}" sibTransId="{26B2FFD8-69C3-45D5-A465-8FD080F17E2F}"/>
    <dgm:cxn modelId="{27FF707B-CC82-435B-9868-B2EAFF1D8DCF}" type="presOf" srcId="{0150717A-EDE4-4A73-873A-952A186DC3EF}" destId="{F1261411-5C82-4D43-BE24-22F867D28299}" srcOrd="1" destOrd="0" presId="urn:microsoft.com/office/officeart/2005/8/layout/vProcess5"/>
    <dgm:cxn modelId="{9E29FE82-7295-4194-80EB-6F25BC74A180}" srcId="{EB8ECDC6-3997-4C92-BC5D-755F01988D80}" destId="{D4693911-1404-4C0C-B083-EC14F6F01A17}" srcOrd="0" destOrd="0" parTransId="{5112EDB2-7889-4873-8D44-82575F74D965}" sibTransId="{4BD70837-02DC-443E-B293-EB6C4CB57421}"/>
    <dgm:cxn modelId="{6236E666-7046-4AAF-B950-78BAC62CCBD9}" type="presParOf" srcId="{D6964695-67FE-4473-8F86-728AEAEE7B0B}" destId="{02368F8A-4DB5-4F93-9F82-26499D29C20F}" srcOrd="0" destOrd="0" presId="urn:microsoft.com/office/officeart/2005/8/layout/vProcess5"/>
    <dgm:cxn modelId="{5F73822E-ED1B-4288-884B-8243505A40D0}" type="presParOf" srcId="{D6964695-67FE-4473-8F86-728AEAEE7B0B}" destId="{D85DDE89-0F99-4B5D-9578-A61642AA33A8}" srcOrd="1" destOrd="0" presId="urn:microsoft.com/office/officeart/2005/8/layout/vProcess5"/>
    <dgm:cxn modelId="{46EAF8BA-8370-49F6-8BDE-740AF4B581AB}" type="presParOf" srcId="{D6964695-67FE-4473-8F86-728AEAEE7B0B}" destId="{AAA05C1D-CA64-49BD-8006-F4A67BB09967}" srcOrd="2" destOrd="0" presId="urn:microsoft.com/office/officeart/2005/8/layout/vProcess5"/>
    <dgm:cxn modelId="{5271F7F5-BAA0-45F1-BC57-4E10582B8119}" type="presParOf" srcId="{D6964695-67FE-4473-8F86-728AEAEE7B0B}" destId="{E13DC364-764F-4CF4-8234-E7B54CE92A1A}" srcOrd="3" destOrd="0" presId="urn:microsoft.com/office/officeart/2005/8/layout/vProcess5"/>
    <dgm:cxn modelId="{8F8DD76F-EF32-4517-9EEC-9AC4B0F906AD}" type="presParOf" srcId="{D6964695-67FE-4473-8F86-728AEAEE7B0B}" destId="{5996F717-DFBF-458D-8F30-034AFA766C01}" srcOrd="4" destOrd="0" presId="urn:microsoft.com/office/officeart/2005/8/layout/vProcess5"/>
    <dgm:cxn modelId="{E4A6C546-8722-48E9-BBB9-10D9820E4BE9}" type="presParOf" srcId="{D6964695-67FE-4473-8F86-728AEAEE7B0B}" destId="{F1261411-5C82-4D43-BE24-22F867D28299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9CD58-12EC-4FA4-93AA-19D457FCDF65}">
      <dsp:nvSpPr>
        <dsp:cNvPr id="0" name=""/>
        <dsp:cNvSpPr/>
      </dsp:nvSpPr>
      <dsp:spPr>
        <a:xfrm>
          <a:off x="0" y="60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E8D3D-3832-438C-A6A4-0883B43CE58B}">
      <dsp:nvSpPr>
        <dsp:cNvPr id="0" name=""/>
        <dsp:cNvSpPr/>
      </dsp:nvSpPr>
      <dsp:spPr>
        <a:xfrm>
          <a:off x="429347" y="319956"/>
          <a:ext cx="780632" cy="78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E0FF2-6E92-4683-BD2E-EE24FC90F7C3}">
      <dsp:nvSpPr>
        <dsp:cNvPr id="0" name=""/>
        <dsp:cNvSpPr/>
      </dsp:nvSpPr>
      <dsp:spPr>
        <a:xfrm>
          <a:off x="1639328" y="60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Pulizia e preparazione del dataset</a:t>
          </a:r>
          <a:endParaRPr lang="en-US" sz="2500" kern="1200"/>
        </a:p>
      </dsp:txBody>
      <dsp:txXfrm>
        <a:off x="1639328" y="606"/>
        <a:ext cx="4012171" cy="1419331"/>
      </dsp:txXfrm>
    </dsp:sp>
    <dsp:sp modelId="{7C2CE124-9B5C-4369-86F2-DA84019CF123}">
      <dsp:nvSpPr>
        <dsp:cNvPr id="0" name=""/>
        <dsp:cNvSpPr/>
      </dsp:nvSpPr>
      <dsp:spPr>
        <a:xfrm>
          <a:off x="0" y="1774771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E8324-C7BB-462B-96FC-90B7C41D8844}">
      <dsp:nvSpPr>
        <dsp:cNvPr id="0" name=""/>
        <dsp:cNvSpPr/>
      </dsp:nvSpPr>
      <dsp:spPr>
        <a:xfrm>
          <a:off x="429347" y="2094121"/>
          <a:ext cx="780632" cy="78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D7226-C336-4BE2-BDF6-3D6F280E3B91}">
      <dsp:nvSpPr>
        <dsp:cNvPr id="0" name=""/>
        <dsp:cNvSpPr/>
      </dsp:nvSpPr>
      <dsp:spPr>
        <a:xfrm>
          <a:off x="1639328" y="1774771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Creazione della rete bipartita </a:t>
          </a:r>
          <a:endParaRPr lang="en-US" sz="2500" kern="1200"/>
        </a:p>
      </dsp:txBody>
      <dsp:txXfrm>
        <a:off x="1639328" y="1774771"/>
        <a:ext cx="4012171" cy="1419331"/>
      </dsp:txXfrm>
    </dsp:sp>
    <dsp:sp modelId="{0449CDC9-0329-4D11-8CFC-9A642A35393D}">
      <dsp:nvSpPr>
        <dsp:cNvPr id="0" name=""/>
        <dsp:cNvSpPr/>
      </dsp:nvSpPr>
      <dsp:spPr>
        <a:xfrm>
          <a:off x="0" y="354893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4397B-3112-4655-B730-D3467196A6B6}">
      <dsp:nvSpPr>
        <dsp:cNvPr id="0" name=""/>
        <dsp:cNvSpPr/>
      </dsp:nvSpPr>
      <dsp:spPr>
        <a:xfrm>
          <a:off x="429347" y="3868286"/>
          <a:ext cx="780632" cy="78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1888C-3AC7-46C2-805B-23ACA3E41D5A}">
      <dsp:nvSpPr>
        <dsp:cNvPr id="0" name=""/>
        <dsp:cNvSpPr/>
      </dsp:nvSpPr>
      <dsp:spPr>
        <a:xfrm>
          <a:off x="1639328" y="354893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/>
            <a:t>Analisi delle co-occorrenze</a:t>
          </a:r>
          <a:endParaRPr lang="en-US" sz="2500" kern="1200"/>
        </a:p>
      </dsp:txBody>
      <dsp:txXfrm>
        <a:off x="1639328" y="3548936"/>
        <a:ext cx="4012171" cy="1419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DDE89-0F99-4B5D-9578-A61642AA33A8}">
      <dsp:nvSpPr>
        <dsp:cNvPr id="0" name=""/>
        <dsp:cNvSpPr/>
      </dsp:nvSpPr>
      <dsp:spPr>
        <a:xfrm>
          <a:off x="0" y="0"/>
          <a:ext cx="8722360" cy="13958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200" kern="1200"/>
            <a:t>Correzione di Bonferroni</a:t>
          </a:r>
          <a:endParaRPr lang="en-US" sz="5200" kern="1200"/>
        </a:p>
      </dsp:txBody>
      <dsp:txXfrm>
        <a:off x="40884" y="40884"/>
        <a:ext cx="7279600" cy="1314120"/>
      </dsp:txXfrm>
    </dsp:sp>
    <dsp:sp modelId="{AAA05C1D-CA64-49BD-8006-F4A67BB09967}">
      <dsp:nvSpPr>
        <dsp:cNvPr id="0" name=""/>
        <dsp:cNvSpPr/>
      </dsp:nvSpPr>
      <dsp:spPr>
        <a:xfrm>
          <a:off x="1539239" y="1706086"/>
          <a:ext cx="8722360" cy="13958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200" kern="1200"/>
            <a:t>False Discovery Rate</a:t>
          </a:r>
          <a:endParaRPr lang="en-US" sz="5200" kern="1200"/>
        </a:p>
      </dsp:txBody>
      <dsp:txXfrm>
        <a:off x="1580123" y="1746970"/>
        <a:ext cx="6194024" cy="1314120"/>
      </dsp:txXfrm>
    </dsp:sp>
    <dsp:sp modelId="{E13DC364-764F-4CF4-8234-E7B54CE92A1A}">
      <dsp:nvSpPr>
        <dsp:cNvPr id="0" name=""/>
        <dsp:cNvSpPr/>
      </dsp:nvSpPr>
      <dsp:spPr>
        <a:xfrm>
          <a:off x="7815032" y="1097323"/>
          <a:ext cx="907327" cy="90732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19181" y="1097323"/>
        <a:ext cx="499029" cy="682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7870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979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4330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854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1578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6043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6766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5253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190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693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9283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ADE02C-4E44-CF51-D542-F1F3F48DB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</p:spPr>
        <p:txBody>
          <a:bodyPr>
            <a:normAutofit/>
          </a:bodyPr>
          <a:lstStyle/>
          <a:p>
            <a:r>
              <a:rPr lang="it-IT">
                <a:latin typeface="Algerian" pitchFamily="82" charset="77"/>
              </a:rPr>
              <a:t>Analisi dei voti elettorali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8A7A08-7540-80F9-ED5F-E24F7C257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8969" y="4352544"/>
            <a:ext cx="5928358" cy="1239894"/>
          </a:xfrm>
        </p:spPr>
        <p:txBody>
          <a:bodyPr>
            <a:normAutofit/>
          </a:bodyPr>
          <a:lstStyle/>
          <a:p>
            <a:r>
              <a:rPr lang="it-IT" dirty="0">
                <a:latin typeface="Fahkwang" pitchFamily="2" charset="-34"/>
                <a:cs typeface="Fahkwang" pitchFamily="2" charset="-34"/>
              </a:rPr>
              <a:t>Rete bipartita</a:t>
            </a:r>
            <a:endParaRPr lang="it-IT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A72B9-7C69-7D45-4F52-6A5C50B1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11" r="10096" b="-1"/>
          <a:stretch/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6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Muro dipinto con una freccia e un bersaglio">
            <a:extLst>
              <a:ext uri="{FF2B5EF4-FFF2-40B4-BE49-F238E27FC236}">
                <a16:creationId xmlns:a16="http://schemas.microsoft.com/office/drawing/2014/main" id="{C7144F1F-677D-AA66-A04D-81A3973648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14"/>
          <a:stretch/>
        </p:blipFill>
        <p:spPr>
          <a:xfrm>
            <a:off x="20" y="10"/>
            <a:ext cx="7537684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2073C3F-884B-9F0A-74FE-7963B796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4368"/>
            <a:ext cx="592836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274320" tIns="182880" rIns="274320" bIns="182880" rtlCol="0" anchorCtr="1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Qual è il nostro obiettivo?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E5616F-0B4E-EF89-658C-B9CBDC008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2273" y="973600"/>
            <a:ext cx="3374136" cy="4924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Tramite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l’applicazione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di due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tecniche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di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correzione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statistica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identificare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legami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significativi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tra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Apple Braille" pitchFamily="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pple Braille" pitchFamily="2" charset="0"/>
              </a:rPr>
              <a:t>candidati</a:t>
            </a:r>
            <a:endParaRPr lang="en-US" sz="2400" dirty="0">
              <a:solidFill>
                <a:srgbClr val="FFFFFF"/>
              </a:solidFill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F796B36-6EDC-0068-EEF0-01B64153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metodologia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6EA9416-D984-56AA-8F04-9C05634FD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769491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437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1">
            <a:extLst>
              <a:ext uri="{FF2B5EF4-FFF2-40B4-BE49-F238E27FC236}">
                <a16:creationId xmlns:a16="http://schemas.microsoft.com/office/drawing/2014/main" id="{CF4680D4-DEE2-49EE-AF90-EFEAF50A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231317-0469-BCF2-8AE3-2E203857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it-IT" dirty="0"/>
              <a:t>DISTRIBUZIONE IPERGEOMETRICA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DE7A5F-0D55-7547-3D97-DABC718C3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857982"/>
                <a:ext cx="6876939" cy="30425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FFFF"/>
                    </a:solidFill>
                  </a:rPr>
                  <a:t>• p-</a:t>
                </a:r>
                <a:r>
                  <a:rPr lang="it-IT" dirty="0" err="1">
                    <a:solidFill>
                      <a:srgbClr val="FFFFFF"/>
                    </a:solidFill>
                  </a:rPr>
                  <a:t>value</a:t>
                </a:r>
                <a:r>
                  <a:rPr lang="it-IT" dirty="0">
                    <a:solidFill>
                      <a:srgbClr val="FFFFFF"/>
                    </a:solidFill>
                  </a:rPr>
                  <a:t> associato ad un numero di co-occorrenze </a:t>
                </a:r>
                <a:r>
                  <a:rPr lang="it-IT" dirty="0">
                    <a:solidFill>
                      <a:srgbClr val="FFFFFF"/>
                    </a:solidFill>
                    <a:latin typeface="Abad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it-IT" dirty="0">
                    <a:solidFill>
                      <a:srgbClr val="FFFFFF"/>
                    </a:solidFill>
                  </a:rPr>
                  <a:t> X </a:t>
                </a: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FFFF"/>
                    </a:solidFill>
                  </a:rPr>
                  <a:t>• </a:t>
                </a:r>
                <a:r>
                  <a:rPr lang="it-IT" altLang="it-IT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N= numero totale di elettori</a:t>
                </a:r>
                <a:endParaRPr kumimoji="0" lang="it-IT" altLang="it-IT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FFFF"/>
                    </a:solidFill>
                  </a:rPr>
                  <a:t>• NA= numero di voti del candidato A</a:t>
                </a: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FFFF"/>
                    </a:solidFill>
                  </a:rPr>
                  <a:t>• NB= numero di voti del candidato B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DE7A5F-0D55-7547-3D97-DABC718C3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857982"/>
                <a:ext cx="6876939" cy="3042547"/>
              </a:xfrm>
              <a:blipFill>
                <a:blip r:embed="rId2"/>
                <a:stretch>
                  <a:fillRect l="-7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13">
            <a:extLst>
              <a:ext uri="{FF2B5EF4-FFF2-40B4-BE49-F238E27FC236}">
                <a16:creationId xmlns:a16="http://schemas.microsoft.com/office/drawing/2014/main" id="{50C52EE1-5085-4960-AD29-A926E62E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640080"/>
            <a:ext cx="4017264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D15AA94-C237-4412-B37B-EB317D2B0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0772" y="806357"/>
            <a:ext cx="3685032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EC208CE-4BC6-F769-6DE4-1993FB646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364" y="2478744"/>
            <a:ext cx="3355848" cy="14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5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90F183-5CB6-23CC-2567-2DF17B9C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08791"/>
            <a:ext cx="7729728" cy="1744621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it-IT" sz="1500"/>
              <a:t>Correzioni</a:t>
            </a:r>
            <a:br>
              <a:rPr lang="it-IT" sz="1500"/>
            </a:br>
            <a:endParaRPr lang="it-IT" sz="150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13D4729-1730-C862-3742-67E4EC04C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574068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27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44C3E2-851D-B330-0046-089D33ED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 vert="horz" lIns="182880" tIns="182880" rIns="182880" bIns="182880" rtlCol="0" anchorCtr="1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Correzione di bonferroni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egnaposto contenuto 12">
                <a:extLst>
                  <a:ext uri="{FF2B5EF4-FFF2-40B4-BE49-F238E27FC236}">
                    <a16:creationId xmlns:a16="http://schemas.microsoft.com/office/drawing/2014/main" id="{93AA9A4F-1F52-B9D4-77FE-F3E2C0496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𝑣𝑎𝑙𝑢𝑒</m:t>
                        </m:r>
                      </m:e>
                      <m:sub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lang="it-IT" i="1" kern="10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it-IT" i="1" kern="10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>
                              <a:outerShdw blurRad="38100" dist="19050" dir="2700000" algn="tl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it-IT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it-IT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con: </a:t>
                </a:r>
                <a14:m>
                  <m:oMath xmlns:m="http://schemas.openxmlformats.org/officeDocument/2006/math">
                    <m:r>
                      <a:rPr lang="it-IT" i="1" kern="10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it-IT" b="0" i="0" kern="10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it-IT" kern="1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livello di significatività scelto e </a:t>
                </a:r>
              </a:p>
              <a:p>
                <a:pPr marL="0" indent="0">
                  <a:buNone/>
                </a:pPr>
                <a:r>
                  <a:rPr lang="it-IT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T = numero totale di test</a:t>
                </a:r>
                <a:endParaRPr lang="it-IT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it-IT" dirty="0">
                    <a:solidFill>
                      <a:schemeClr val="bg1"/>
                    </a:solidFill>
                  </a:rPr>
                  <a:t>Molto conservativa</a:t>
                </a:r>
              </a:p>
              <a:p>
                <a:r>
                  <a:rPr lang="it-IT" dirty="0">
                    <a:solidFill>
                      <a:schemeClr val="bg1"/>
                    </a:solidFill>
                  </a:rPr>
                  <a:t>Potrebbe scartare risultati verosimili</a:t>
                </a:r>
              </a:p>
            </p:txBody>
          </p:sp>
        </mc:Choice>
        <mc:Fallback>
          <p:sp>
            <p:nvSpPr>
              <p:cNvPr id="13" name="Segnaposto contenuto 12">
                <a:extLst>
                  <a:ext uri="{FF2B5EF4-FFF2-40B4-BE49-F238E27FC236}">
                    <a16:creationId xmlns:a16="http://schemas.microsoft.com/office/drawing/2014/main" id="{93AA9A4F-1F52-B9D4-77FE-F3E2C0496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119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4DE55-BC7D-5D40-5472-8E7D468A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CORREZIONE FDR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3B1D48F-3B6F-FD3C-9E7B-02C7FFC81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3030" y="912540"/>
            <a:ext cx="4818890" cy="227176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64FBFAD-B5F8-B861-50A2-A240D944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0" y="3428999"/>
            <a:ext cx="4982048" cy="164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3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3B55CDF-6359-5F71-8987-EA492A87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RETE BIPARTITA ELETTORI E CANDIDATI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AA65B1E-6F5A-3BC7-75F7-3FE72A141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3" y="0"/>
            <a:ext cx="7717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0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0D74DF3-D9A7-923A-8020-3100B716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200"/>
              <a:t>COMUNITà RILEVATE CON CORREZIONE DI BONFERRONI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EC8E2F3-4E3A-B10B-9C01-200341B6E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3" y="-1"/>
            <a:ext cx="741578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7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5489B05-05B3-41EE-37B3-126D6963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300"/>
              <a:t>COMNITà RILEVATE CON CORREZIONE FDR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1D10ED7-7410-4D60-28A0-327CD0C4B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3" y="-1"/>
            <a:ext cx="7652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6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>
            <a:extLst>
              <a:ext uri="{FF2B5EF4-FFF2-40B4-BE49-F238E27FC236}">
                <a16:creationId xmlns:a16="http://schemas.microsoft.com/office/drawing/2014/main" id="{EAF50326-6478-45B6-8E6E-02F136CA7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596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A36964-2994-3C5A-4354-27E47983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89" y="2893470"/>
            <a:ext cx="2787467" cy="1071062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2400"/>
              <a:t>Possibili spiegazioni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DF61FC49-3E2D-4969-94A0-B0C49108F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4519" y="640080"/>
            <a:ext cx="6847401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C882F2-41B8-4EBD-9DF4-3005A19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008" y="806357"/>
            <a:ext cx="650884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26D26D3-DFE7-D6D0-5A2A-4624656CC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2139" y="1957892"/>
            <a:ext cx="6142121" cy="248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10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magine 31">
            <a:extLst>
              <a:ext uri="{FF2B5EF4-FFF2-40B4-BE49-F238E27FC236}">
                <a16:creationId xmlns:a16="http://schemas.microsoft.com/office/drawing/2014/main" id="{CC447E41-646A-F04F-5F2F-4E7E277B5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"/>
            <a:ext cx="12192000" cy="67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5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11A3610-1D8D-8554-881C-A8BA1E2C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it-IT" dirty="0"/>
              <a:t>CASI OSSERVATI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556F73-947E-71CD-077D-ED871A4CA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dirty="0">
                <a:solidFill>
                  <a:srgbClr val="404040"/>
                </a:solidFill>
              </a:rPr>
              <a:t>Abbiamo individuato tre casi evidenti di effetto trascinamento grezzo, tutti in comunità diverse: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04040"/>
                </a:solidFill>
              </a:rPr>
              <a:t>C ha trascinato I: 60 voti su 100 ricevuti da I sono in comune con C (</a:t>
            </a:r>
            <a:r>
              <a:rPr lang="it-IT" dirty="0" err="1">
                <a:solidFill>
                  <a:srgbClr val="404040"/>
                </a:solidFill>
              </a:rPr>
              <a:t>Tij</a:t>
            </a:r>
            <a:r>
              <a:rPr lang="it-IT" dirty="0">
                <a:solidFill>
                  <a:srgbClr val="404040"/>
                </a:solidFill>
              </a:rPr>
              <a:t> = 0.60)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04040"/>
                </a:solidFill>
              </a:rPr>
              <a:t>H ha trascinato L: 35 voti su 60 ricevuti da L sono in comune con H (</a:t>
            </a:r>
            <a:r>
              <a:rPr lang="it-IT" dirty="0" err="1">
                <a:solidFill>
                  <a:srgbClr val="404040"/>
                </a:solidFill>
              </a:rPr>
              <a:t>Tij</a:t>
            </a:r>
            <a:r>
              <a:rPr lang="it-IT" dirty="0">
                <a:solidFill>
                  <a:srgbClr val="404040"/>
                </a:solidFill>
              </a:rPr>
              <a:t> = 0.58)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04040"/>
                </a:solidFill>
              </a:rPr>
              <a:t>B ha trascinato J: 35 voti su 64 ricevuti da J sono in comune con B (</a:t>
            </a:r>
            <a:r>
              <a:rPr lang="it-IT" dirty="0" err="1">
                <a:solidFill>
                  <a:srgbClr val="404040"/>
                </a:solidFill>
              </a:rPr>
              <a:t>Tij</a:t>
            </a:r>
            <a:r>
              <a:rPr lang="it-IT" dirty="0">
                <a:solidFill>
                  <a:srgbClr val="404040"/>
                </a:solidFill>
              </a:rPr>
              <a:t> = 0.55)</a:t>
            </a:r>
          </a:p>
          <a:p>
            <a:endParaRPr lang="it-IT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35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B2437376-5AC5-4FCE-D036-3AD33C8A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9" y="0"/>
            <a:ext cx="11210543" cy="66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43712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cco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c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co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TM10001115[[fn=Pacco]]</Template>
  <TotalTime>184</TotalTime>
  <Words>218</Words>
  <Application>Microsoft Office PowerPoint</Application>
  <PresentationFormat>Widescreen</PresentationFormat>
  <Paragraphs>33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Abadi</vt:lpstr>
      <vt:lpstr>Algerian</vt:lpstr>
      <vt:lpstr>Apple Braille</vt:lpstr>
      <vt:lpstr>Arial</vt:lpstr>
      <vt:lpstr>Calibri</vt:lpstr>
      <vt:lpstr>Cambria Math</vt:lpstr>
      <vt:lpstr>Fahkwang</vt:lpstr>
      <vt:lpstr>Gill Sans MT</vt:lpstr>
      <vt:lpstr>Pacco</vt:lpstr>
      <vt:lpstr>Analisi dei voti elettorali</vt:lpstr>
      <vt:lpstr>Qual è il nostro obiettivo?</vt:lpstr>
      <vt:lpstr>metodologia</vt:lpstr>
      <vt:lpstr>DISTRIBUZIONE IPERGEOMETRICA</vt:lpstr>
      <vt:lpstr>Correzioni </vt:lpstr>
      <vt:lpstr>Correzione di bonferroni</vt:lpstr>
      <vt:lpstr>CORREZIONE FDR </vt:lpstr>
      <vt:lpstr>RETE BIPARTITA ELETTORI E CANDIDATI</vt:lpstr>
      <vt:lpstr>COMUNITà RILEVATE CON CORREZIONE DI BONFERRONI</vt:lpstr>
      <vt:lpstr>COMNITà RILEVATE CON CORREZIONE FDR</vt:lpstr>
      <vt:lpstr>Possibili spiegazioni</vt:lpstr>
      <vt:lpstr>Presentazione standard di PowerPoint</vt:lpstr>
      <vt:lpstr>CASI OSSERVATI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CHIARA GALIONE</dc:creator>
  <cp:lastModifiedBy>Salvatore Megna</cp:lastModifiedBy>
  <cp:revision>5</cp:revision>
  <dcterms:created xsi:type="dcterms:W3CDTF">2025-04-09T16:16:26Z</dcterms:created>
  <dcterms:modified xsi:type="dcterms:W3CDTF">2025-04-11T01:27:10Z</dcterms:modified>
</cp:coreProperties>
</file>